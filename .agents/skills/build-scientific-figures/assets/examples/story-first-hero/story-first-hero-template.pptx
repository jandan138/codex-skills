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4846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quest-section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73736"/>
            <a:ext cx="237744" cy="237744"/>
          </a:xfrm>
          <a:prstGeom prst="rect">
            <a:avLst/>
          </a:prstGeom>
          <a:effectLst/>
        </p:spPr>
      </p:pic>
      <p:sp>
        <p:nvSpPr>
          <p:cNvPr id="3" name="request-section-title"/>
          <p:cNvSpPr txBox="1"/>
          <p:nvPr/>
        </p:nvSpPr>
        <p:spPr>
          <a:xfrm>
            <a:off x="585216" y="164592"/>
            <a:ext cx="1636776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REQUEST</a:t>
            </a:r>
          </a:p>
        </p:txBody>
      </p:sp>
      <p:cxnSp>
        <p:nvCxnSpPr>
          <p:cNvPr id="4" name="request-section-divider"/>
          <p:cNvCxnSpPr/>
          <p:nvPr/>
        </p:nvCxnSpPr>
        <p:spPr>
          <a:xfrm>
            <a:off x="256032" y="557784"/>
            <a:ext cx="1965959" cy="0"/>
          </a:xfrm>
          <a:prstGeom prst="line">
            <a:avLst/>
          </a:prstGeom>
          <a:ln w="12700">
            <a:solidFill>
              <a:srgbClr val="13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ate-section-icon" descr="compi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73736"/>
            <a:ext cx="237744" cy="237744"/>
          </a:xfrm>
          <a:prstGeom prst="rect">
            <a:avLst/>
          </a:prstGeom>
          <a:effectLst/>
        </p:spPr>
      </p:pic>
      <p:sp>
        <p:nvSpPr>
          <p:cNvPr id="6" name="gate-section-title"/>
          <p:cNvSpPr txBox="1"/>
          <p:nvPr/>
        </p:nvSpPr>
        <p:spPr>
          <a:xfrm>
            <a:off x="2889503" y="164592"/>
            <a:ext cx="3840479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AUTHORITY GATE</a:t>
            </a:r>
          </a:p>
        </p:txBody>
      </p:sp>
      <p:cxnSp>
        <p:nvCxnSpPr>
          <p:cNvPr id="7" name="gate-section-divider"/>
          <p:cNvCxnSpPr/>
          <p:nvPr/>
        </p:nvCxnSpPr>
        <p:spPr>
          <a:xfrm>
            <a:off x="2560320" y="557784"/>
            <a:ext cx="4169663" cy="0"/>
          </a:xfrm>
          <a:prstGeom prst="line">
            <a:avLst/>
          </a:prstGeom>
          <a:ln w="12700">
            <a:solidFill>
              <a:srgbClr val="E17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xecution-section-icon" descr="exec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3736"/>
            <a:ext cx="237744" cy="237744"/>
          </a:xfrm>
          <a:prstGeom prst="rect">
            <a:avLst/>
          </a:prstGeom>
          <a:effectLst/>
        </p:spPr>
      </p:pic>
      <p:sp>
        <p:nvSpPr>
          <p:cNvPr id="9" name="execution-section-title"/>
          <p:cNvSpPr txBox="1"/>
          <p:nvPr/>
        </p:nvSpPr>
        <p:spPr>
          <a:xfrm>
            <a:off x="7050024" y="164592"/>
            <a:ext cx="4901184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SHARED EXECUTION</a:t>
            </a:r>
          </a:p>
        </p:txBody>
      </p:sp>
      <p:cxnSp>
        <p:nvCxnSpPr>
          <p:cNvPr id="10" name="execution-section-divider"/>
          <p:cNvCxnSpPr/>
          <p:nvPr/>
        </p:nvCxnSpPr>
        <p:spPr>
          <a:xfrm>
            <a:off x="6720840" y="557784"/>
            <a:ext cx="5230368" cy="0"/>
          </a:xfrm>
          <a:prstGeom prst="line">
            <a:avLst/>
          </a:prstGeom>
          <a:ln w="12700">
            <a:solidFill>
              <a:srgbClr val="159F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xact-request-card"/>
          <p:cNvSpPr/>
          <p:nvPr/>
        </p:nvSpPr>
        <p:spPr>
          <a:xfrm>
            <a:off x="256032" y="841248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xact-request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179576"/>
            <a:ext cx="438912" cy="438912"/>
          </a:xfrm>
          <a:prstGeom prst="rect">
            <a:avLst/>
          </a:prstGeom>
          <a:effectLst/>
        </p:spPr>
      </p:pic>
      <p:sp>
        <p:nvSpPr>
          <p:cNvPr id="13" name="exact-request-title"/>
          <p:cNvSpPr txBox="1"/>
          <p:nvPr/>
        </p:nvSpPr>
        <p:spPr>
          <a:xfrm>
            <a:off x="987552" y="1051560"/>
            <a:ext cx="1078992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5FD9"/>
                </a:solidFill>
                <a:latin typeface="DejaVu Sans"/>
              </a:rPr>
              <a:t>Exact request</a:t>
            </a:r>
          </a:p>
        </p:txBody>
      </p:sp>
      <p:sp>
        <p:nvSpPr>
          <p:cNvPr id="14" name="exact-request-value"/>
          <p:cNvSpPr txBox="1"/>
          <p:nvPr/>
        </p:nvSpPr>
        <p:spPr>
          <a:xfrm>
            <a:off x="987552" y="1453896"/>
            <a:ext cx="1078992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DejaVu Sans"/>
              </a:rPr>
              <a:t>"fixed value"</a:t>
            </a:r>
          </a:p>
        </p:txBody>
      </p:sp>
      <p:sp>
        <p:nvSpPr>
          <p:cNvPr id="15" name="open-request-card"/>
          <p:cNvSpPr/>
          <p:nvPr/>
        </p:nvSpPr>
        <p:spPr>
          <a:xfrm>
            <a:off x="256032" y="2852928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pen-request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191256"/>
            <a:ext cx="438912" cy="438912"/>
          </a:xfrm>
          <a:prstGeom prst="rect">
            <a:avLst/>
          </a:prstGeom>
          <a:effectLst/>
        </p:spPr>
      </p:pic>
      <p:sp>
        <p:nvSpPr>
          <p:cNvPr id="17" name="open-request-title"/>
          <p:cNvSpPr txBox="1"/>
          <p:nvPr/>
        </p:nvSpPr>
        <p:spPr>
          <a:xfrm>
            <a:off x="987552" y="3063240"/>
            <a:ext cx="1078992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5FD9"/>
                </a:solidFill>
                <a:latin typeface="DejaVu Sans"/>
              </a:rPr>
              <a:t>Open request</a:t>
            </a:r>
          </a:p>
        </p:txBody>
      </p:sp>
      <p:sp>
        <p:nvSpPr>
          <p:cNvPr id="18" name="open-request-value"/>
          <p:cNvSpPr txBox="1"/>
          <p:nvPr/>
        </p:nvSpPr>
        <p:spPr>
          <a:xfrm>
            <a:off x="987552" y="3465576"/>
            <a:ext cx="1078992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DejaVu Sans"/>
              </a:rPr>
              <a:t>"allowed range"</a:t>
            </a:r>
          </a:p>
        </p:txBody>
      </p:sp>
      <p:sp>
        <p:nvSpPr>
          <p:cNvPr id="19" name="parser-card"/>
          <p:cNvSpPr/>
          <p:nvPr/>
        </p:nvSpPr>
        <p:spPr>
          <a:xfrm>
            <a:off x="2560320" y="1097280"/>
            <a:ext cx="1051560" cy="2542032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arser-icon" descr="par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371600"/>
            <a:ext cx="512064" cy="512064"/>
          </a:xfrm>
          <a:prstGeom prst="rect">
            <a:avLst/>
          </a:prstGeom>
          <a:effectLst/>
        </p:spPr>
      </p:pic>
      <p:sp>
        <p:nvSpPr>
          <p:cNvPr id="21" name="parser-title"/>
          <p:cNvSpPr txBox="1"/>
          <p:nvPr/>
        </p:nvSpPr>
        <p:spPr>
          <a:xfrm>
            <a:off x="2688336" y="2029968"/>
            <a:ext cx="795528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35FD9"/>
                </a:solidFill>
                <a:latin typeface="DejaVu Sans"/>
              </a:rPr>
              <a:t>Parser</a:t>
            </a:r>
          </a:p>
        </p:txBody>
      </p:sp>
      <p:sp>
        <p:nvSpPr>
          <p:cNvPr id="22" name="parser-note"/>
          <p:cNvSpPr txBox="1"/>
          <p:nvPr/>
        </p:nvSpPr>
        <p:spPr>
          <a:xfrm>
            <a:off x="2688336" y="2798064"/>
            <a:ext cx="795528" cy="51206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DejaVu Sans"/>
              </a:rPr>
              <a:t>no policy
input</a:t>
            </a:r>
          </a:p>
        </p:txBody>
      </p:sp>
      <p:cxnSp>
        <p:nvCxnSpPr>
          <p:cNvPr id="23" name="route-exact-request-to-parser-segment-1"/>
          <p:cNvCxnSpPr/>
          <p:nvPr/>
        </p:nvCxnSpPr>
        <p:spPr>
          <a:xfrm>
            <a:off x="2221992" y="1417320"/>
            <a:ext cx="338328" cy="0"/>
          </a:xfrm>
          <a:prstGeom prst="line">
            <a:avLst/>
          </a:prstGeom>
          <a:ln w="19050">
            <a:solidFill>
              <a:srgbClr val="135FD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oute-open-request-to-parser-segment-1"/>
          <p:cNvCxnSpPr/>
          <p:nvPr/>
        </p:nvCxnSpPr>
        <p:spPr>
          <a:xfrm>
            <a:off x="2221992" y="3429000"/>
            <a:ext cx="338328" cy="0"/>
          </a:xfrm>
          <a:prstGeom prst="line">
            <a:avLst/>
          </a:prstGeom>
          <a:ln w="19050">
            <a:solidFill>
              <a:srgbClr val="135FD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xact-intent"/>
          <p:cNvSpPr/>
          <p:nvPr/>
        </p:nvSpPr>
        <p:spPr>
          <a:xfrm>
            <a:off x="3730752" y="1161288"/>
            <a:ext cx="621792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xact-intent-text"/>
          <p:cNvSpPr txBox="1"/>
          <p:nvPr/>
        </p:nvSpPr>
        <p:spPr>
          <a:xfrm>
            <a:off x="3767328" y="1216152"/>
            <a:ext cx="548640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v*</a:t>
            </a:r>
          </a:p>
        </p:txBody>
      </p:sp>
      <p:sp>
        <p:nvSpPr>
          <p:cNvPr id="27" name="exact-strict"/>
          <p:cNvSpPr/>
          <p:nvPr/>
        </p:nvSpPr>
        <p:spPr>
          <a:xfrm>
            <a:off x="4489704" y="1161288"/>
            <a:ext cx="676656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act-strict-text"/>
          <p:cNvSpPr txBox="1"/>
          <p:nvPr/>
        </p:nvSpPr>
        <p:spPr>
          <a:xfrm>
            <a:off x="4526280" y="1216152"/>
            <a:ext cx="603504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Strict</a:t>
            </a:r>
          </a:p>
        </p:txBody>
      </p:sp>
      <p:sp>
        <p:nvSpPr>
          <p:cNvPr id="29" name="exact-outcome-card"/>
          <p:cNvSpPr/>
          <p:nvPr/>
        </p:nvSpPr>
        <p:spPr>
          <a:xfrm>
            <a:off x="5303520" y="932688"/>
            <a:ext cx="1444752" cy="96012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act-outcome-decision"/>
          <p:cNvSpPr txBox="1"/>
          <p:nvPr/>
        </p:nvSpPr>
        <p:spPr>
          <a:xfrm>
            <a:off x="5376672" y="1024128"/>
            <a:ext cx="1298448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35FD9"/>
                </a:solidFill>
                <a:latin typeface="DejaVu Sans"/>
              </a:rPr>
              <a:t>Execute</a:t>
            </a:r>
          </a:p>
        </p:txBody>
      </p:sp>
      <p:sp>
        <p:nvSpPr>
          <p:cNvPr id="31" name="exact-outcome-provenance"/>
          <p:cNvSpPr txBox="1"/>
          <p:nvPr/>
        </p:nvSpPr>
        <p:spPr>
          <a:xfrm>
            <a:off x="5376672" y="1408176"/>
            <a:ext cx="12984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 Mono"/>
              </a:rPr>
              <a:t>source_A</a:t>
            </a:r>
          </a:p>
        </p:txBody>
      </p:sp>
      <p:cxnSp>
        <p:nvCxnSpPr>
          <p:cNvPr id="32" name="route-parser-to-exact-intent-segment-1"/>
          <p:cNvCxnSpPr/>
          <p:nvPr/>
        </p:nvCxnSpPr>
        <p:spPr>
          <a:xfrm>
            <a:off x="3611880" y="1417320"/>
            <a:ext cx="118872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oute-exact-intent-to-strict-segment-1"/>
          <p:cNvCxnSpPr/>
          <p:nvPr/>
        </p:nvCxnSpPr>
        <p:spPr>
          <a:xfrm>
            <a:off x="4352544" y="1417320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oute-exact-strict-to-execute-segment-1"/>
          <p:cNvCxnSpPr/>
          <p:nvPr/>
        </p:nvCxnSpPr>
        <p:spPr>
          <a:xfrm>
            <a:off x="5166360" y="1417320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pen-intent"/>
          <p:cNvSpPr/>
          <p:nvPr/>
        </p:nvSpPr>
        <p:spPr>
          <a:xfrm>
            <a:off x="3730752" y="3172968"/>
            <a:ext cx="621792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pen-intent-text"/>
          <p:cNvSpPr txBox="1"/>
          <p:nvPr/>
        </p:nvSpPr>
        <p:spPr>
          <a:xfrm>
            <a:off x="3767328" y="3227832"/>
            <a:ext cx="548640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S</a:t>
            </a:r>
          </a:p>
        </p:txBody>
      </p:sp>
      <p:sp>
        <p:nvSpPr>
          <p:cNvPr id="37" name="open-policy-fork"/>
          <p:cNvSpPr/>
          <p:nvPr/>
        </p:nvSpPr>
        <p:spPr>
          <a:xfrm>
            <a:off x="4439412" y="3378708"/>
            <a:ext cx="100584" cy="100584"/>
          </a:xfrm>
          <a:prstGeom prst="ellipse">
            <a:avLst/>
          </a:prstGeom>
          <a:solidFill>
            <a:srgbClr val="183760"/>
          </a:solidFill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route-parser-to-open-intent-segment-1"/>
          <p:cNvCxnSpPr/>
          <p:nvPr/>
        </p:nvCxnSpPr>
        <p:spPr>
          <a:xfrm>
            <a:off x="3611880" y="3429000"/>
            <a:ext cx="118872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oute-open-intent-to-policy-fork-segment-1"/>
          <p:cNvCxnSpPr/>
          <p:nvPr/>
        </p:nvCxnSpPr>
        <p:spPr>
          <a:xfrm>
            <a:off x="4352544" y="3429000"/>
            <a:ext cx="137160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pen-strict"/>
          <p:cNvSpPr/>
          <p:nvPr/>
        </p:nvSpPr>
        <p:spPr>
          <a:xfrm>
            <a:off x="4590288" y="2240280"/>
            <a:ext cx="914400" cy="512064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0795">
            <a:solidFill>
              <a:srgbClr val="E1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pen-strict-text"/>
          <p:cNvSpPr txBox="1"/>
          <p:nvPr/>
        </p:nvSpPr>
        <p:spPr>
          <a:xfrm>
            <a:off x="4626864" y="2295144"/>
            <a:ext cx="8412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17A00"/>
                </a:solidFill>
                <a:latin typeface="DejaVu Sans"/>
              </a:rPr>
              <a:t>Strict</a:t>
            </a:r>
          </a:p>
        </p:txBody>
      </p:sp>
      <p:sp>
        <p:nvSpPr>
          <p:cNvPr id="42" name="clarify-outcome-card"/>
          <p:cNvSpPr/>
          <p:nvPr/>
        </p:nvSpPr>
        <p:spPr>
          <a:xfrm>
            <a:off x="5623560" y="201168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0795">
            <a:solidFill>
              <a:srgbClr val="E1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larify-outcome-decision"/>
          <p:cNvSpPr txBox="1"/>
          <p:nvPr/>
        </p:nvSpPr>
        <p:spPr>
          <a:xfrm>
            <a:off x="5696712" y="2103120"/>
            <a:ext cx="996696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17A00"/>
                </a:solidFill>
                <a:latin typeface="DejaVu Sans"/>
              </a:rPr>
              <a:t>Clarify</a:t>
            </a:r>
          </a:p>
        </p:txBody>
      </p:sp>
      <p:sp>
        <p:nvSpPr>
          <p:cNvPr id="44" name="clarify-outcome-provenance"/>
          <p:cNvSpPr txBox="1"/>
          <p:nvPr/>
        </p:nvSpPr>
        <p:spPr>
          <a:xfrm>
            <a:off x="5696712" y="2487168"/>
            <a:ext cx="996696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17A00"/>
                </a:solidFill>
                <a:latin typeface="DejaVu Sans Mono"/>
              </a:rPr>
              <a:t>NOT ISSUED</a:t>
            </a:r>
          </a:p>
        </p:txBody>
      </p:sp>
      <p:cxnSp>
        <p:nvCxnSpPr>
          <p:cNvPr id="45" name="route-fork-to-open-strict-segment-1"/>
          <p:cNvCxnSpPr/>
          <p:nvPr/>
        </p:nvCxnSpPr>
        <p:spPr>
          <a:xfrm flipV="1">
            <a:off x="4489704" y="2496312"/>
            <a:ext cx="0" cy="932688"/>
          </a:xfrm>
          <a:prstGeom prst="line">
            <a:avLst/>
          </a:prstGeom>
          <a:ln w="19050">
            <a:solidFill>
              <a:srgbClr val="E17A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oute-fork-to-open-strict-segment-2"/>
          <p:cNvCxnSpPr/>
          <p:nvPr/>
        </p:nvCxnSpPr>
        <p:spPr>
          <a:xfrm>
            <a:off x="4489704" y="2496312"/>
            <a:ext cx="100584" cy="0"/>
          </a:xfrm>
          <a:prstGeom prst="line">
            <a:avLst/>
          </a:prstGeom>
          <a:ln w="19050">
            <a:solidFill>
              <a:srgbClr val="E17A0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oute-open-strict-to-clarify-segment-1"/>
          <p:cNvCxnSpPr/>
          <p:nvPr/>
        </p:nvCxnSpPr>
        <p:spPr>
          <a:xfrm>
            <a:off x="5504688" y="2496312"/>
            <a:ext cx="118872" cy="0"/>
          </a:xfrm>
          <a:prstGeom prst="line">
            <a:avLst/>
          </a:prstGeom>
          <a:ln w="19050">
            <a:solidFill>
              <a:srgbClr val="E17A0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pen-declared"/>
          <p:cNvSpPr/>
          <p:nvPr/>
        </p:nvSpPr>
        <p:spPr>
          <a:xfrm>
            <a:off x="4590288" y="3657600"/>
            <a:ext cx="914400" cy="512064"/>
          </a:xfrm>
          <a:prstGeom prst="roundRect">
            <a:avLst>
              <a:gd name="adj" fmla="val 10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pen-declared-text"/>
          <p:cNvSpPr txBox="1"/>
          <p:nvPr/>
        </p:nvSpPr>
        <p:spPr>
          <a:xfrm>
            <a:off x="4626864" y="3712463"/>
            <a:ext cx="8412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"/>
              </a:rPr>
              <a:t>Declared</a:t>
            </a:r>
          </a:p>
        </p:txBody>
      </p:sp>
      <p:sp>
        <p:nvSpPr>
          <p:cNvPr id="50" name="declared-outcome-card"/>
          <p:cNvSpPr/>
          <p:nvPr/>
        </p:nvSpPr>
        <p:spPr>
          <a:xfrm>
            <a:off x="5623560" y="342900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clared-outcome-decision"/>
          <p:cNvSpPr txBox="1"/>
          <p:nvPr/>
        </p:nvSpPr>
        <p:spPr>
          <a:xfrm>
            <a:off x="5696712" y="3520440"/>
            <a:ext cx="996696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59F91"/>
                </a:solidFill>
                <a:latin typeface="DejaVu Sans"/>
              </a:rPr>
              <a:t>Execute</a:t>
            </a:r>
          </a:p>
        </p:txBody>
      </p:sp>
      <p:sp>
        <p:nvSpPr>
          <p:cNvPr id="52" name="declared-outcome-provenance"/>
          <p:cNvSpPr txBox="1"/>
          <p:nvPr/>
        </p:nvSpPr>
        <p:spPr>
          <a:xfrm>
            <a:off x="5696712" y="3904487"/>
            <a:ext cx="996696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 Mono"/>
              </a:rPr>
              <a:t>source_B</a:t>
            </a:r>
          </a:p>
        </p:txBody>
      </p:sp>
      <p:cxnSp>
        <p:nvCxnSpPr>
          <p:cNvPr id="53" name="route-fork-to-open-declared-segment-1"/>
          <p:cNvCxnSpPr/>
          <p:nvPr/>
        </p:nvCxnSpPr>
        <p:spPr>
          <a:xfrm>
            <a:off x="4489704" y="3429000"/>
            <a:ext cx="0" cy="484632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oute-fork-to-open-declared-segment-2"/>
          <p:cNvCxnSpPr/>
          <p:nvPr/>
        </p:nvCxnSpPr>
        <p:spPr>
          <a:xfrm>
            <a:off x="4489704" y="3913632"/>
            <a:ext cx="100584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oute-open-declared-to-execute-segment-1"/>
          <p:cNvCxnSpPr/>
          <p:nvPr/>
        </p:nvCxnSpPr>
        <p:spPr>
          <a:xfrm>
            <a:off x="5504688" y="3913632"/>
            <a:ext cx="118872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red-contract-card"/>
          <p:cNvSpPr/>
          <p:nvPr/>
        </p:nvSpPr>
        <p:spPr>
          <a:xfrm>
            <a:off x="6858000" y="822960"/>
            <a:ext cx="5093208" cy="603504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shared-contract-icon" descr="rece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932688"/>
            <a:ext cx="384048" cy="384048"/>
          </a:xfrm>
          <a:prstGeom prst="rect">
            <a:avLst/>
          </a:prstGeom>
          <a:effectLst/>
        </p:spPr>
      </p:pic>
      <p:sp>
        <p:nvSpPr>
          <p:cNvPr id="58" name="shared-contract-title"/>
          <p:cNvSpPr txBox="1"/>
          <p:nvPr/>
        </p:nvSpPr>
        <p:spPr>
          <a:xfrm>
            <a:off x="7498079" y="932688"/>
            <a:ext cx="1828800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9F91"/>
                </a:solidFill>
                <a:latin typeface="DejaVu Sans"/>
              </a:rPr>
              <a:t>Shared contract</a:t>
            </a:r>
          </a:p>
        </p:txBody>
      </p:sp>
      <p:sp>
        <p:nvSpPr>
          <p:cNvPr id="59" name="shared-contract-value"/>
          <p:cNvSpPr txBox="1"/>
          <p:nvPr/>
        </p:nvSpPr>
        <p:spPr>
          <a:xfrm>
            <a:off x="9601200" y="896112"/>
            <a:ext cx="2103120" cy="40233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200" b="1">
                <a:solidFill>
                  <a:srgbClr val="159F91"/>
                </a:solidFill>
                <a:latin typeface="DejaVu Sans"/>
              </a:rPr>
              <a:t>value = v*</a:t>
            </a:r>
          </a:p>
        </p:txBody>
      </p:sp>
      <p:cxnSp>
        <p:nvCxnSpPr>
          <p:cNvPr id="60" name="route-exact-execute-to-merge-segment-1"/>
          <p:cNvCxnSpPr/>
          <p:nvPr/>
        </p:nvCxnSpPr>
        <p:spPr>
          <a:xfrm>
            <a:off x="6748272" y="1417320"/>
            <a:ext cx="155448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route-exact-execute-to-merge-segment-2"/>
          <p:cNvCxnSpPr/>
          <p:nvPr/>
        </p:nvCxnSpPr>
        <p:spPr>
          <a:xfrm>
            <a:off x="6903720" y="1417320"/>
            <a:ext cx="0" cy="640080"/>
          </a:xfrm>
          <a:prstGeom prst="line">
            <a:avLst/>
          </a:prstGeom>
          <a:ln w="19050">
            <a:solidFill>
              <a:srgbClr val="135FD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oute-declared-execute-to-merge-segment-1"/>
          <p:cNvCxnSpPr/>
          <p:nvPr/>
        </p:nvCxnSpPr>
        <p:spPr>
          <a:xfrm>
            <a:off x="6766560" y="3913632"/>
            <a:ext cx="137160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oute-declared-execute-to-merge-segment-2"/>
          <p:cNvCxnSpPr/>
          <p:nvPr/>
        </p:nvCxnSpPr>
        <p:spPr>
          <a:xfrm flipV="1">
            <a:off x="6903720" y="2057400"/>
            <a:ext cx="0" cy="1856232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hared-contract-merge"/>
          <p:cNvSpPr/>
          <p:nvPr/>
        </p:nvSpPr>
        <p:spPr>
          <a:xfrm>
            <a:off x="6853428" y="2007107"/>
            <a:ext cx="100584" cy="100584"/>
          </a:xfrm>
          <a:prstGeom prst="ellipse">
            <a:avLst/>
          </a:prstGeom>
          <a:solidFill>
            <a:srgbClr val="183760"/>
          </a:solidFill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route-merge-to-shared-contract-segment-1"/>
          <p:cNvCxnSpPr/>
          <p:nvPr/>
        </p:nvCxnSpPr>
        <p:spPr>
          <a:xfrm flipH="1">
            <a:off x="6784848" y="2057400"/>
            <a:ext cx="118871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oute-merge-to-shared-contract-segment-2"/>
          <p:cNvCxnSpPr/>
          <p:nvPr/>
        </p:nvCxnSpPr>
        <p:spPr>
          <a:xfrm flipV="1">
            <a:off x="6784848" y="1124712"/>
            <a:ext cx="0" cy="932688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oute-merge-to-shared-contract-segment-3"/>
          <p:cNvCxnSpPr/>
          <p:nvPr/>
        </p:nvCxnSpPr>
        <p:spPr>
          <a:xfrm>
            <a:off x="6784848" y="1124712"/>
            <a:ext cx="73152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xecution-frame-1"/>
          <p:cNvSpPr/>
          <p:nvPr/>
        </p:nvSpPr>
        <p:spPr>
          <a:xfrm>
            <a:off x="685800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execution-image-1" descr="frame-000000.png"/>
          <p:cNvPicPr>
            <a:picLocks noChangeAspect="1"/>
          </p:cNvPicPr>
          <p:nvPr/>
        </p:nvPicPr>
        <p:blipFill>
          <a:blip r:embed="rId11"/>
          <a:srcRect l="29203" r="29203"/>
          <a:stretch>
            <a:fillRect/>
          </a:stretch>
        </p:blipFill>
        <p:spPr>
          <a:xfrm>
            <a:off x="690372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0" name="execution-label-1"/>
          <p:cNvSpPr txBox="1"/>
          <p:nvPr/>
        </p:nvSpPr>
        <p:spPr>
          <a:xfrm>
            <a:off x="6894576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1  State A</a:t>
            </a:r>
          </a:p>
        </p:txBody>
      </p:sp>
      <p:sp>
        <p:nvSpPr>
          <p:cNvPr id="71" name="execution-frame-2"/>
          <p:cNvSpPr/>
          <p:nvPr/>
        </p:nvSpPr>
        <p:spPr>
          <a:xfrm>
            <a:off x="809244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execution-image-2" descr="frame-000220.png"/>
          <p:cNvPicPr>
            <a:picLocks noChangeAspect="1"/>
          </p:cNvPicPr>
          <p:nvPr/>
        </p:nvPicPr>
        <p:blipFill>
          <a:blip r:embed="rId12"/>
          <a:srcRect l="29203" r="29203"/>
          <a:stretch>
            <a:fillRect/>
          </a:stretch>
        </p:blipFill>
        <p:spPr>
          <a:xfrm>
            <a:off x="813816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3" name="execution-label-2"/>
          <p:cNvSpPr txBox="1"/>
          <p:nvPr/>
        </p:nvSpPr>
        <p:spPr>
          <a:xfrm>
            <a:off x="8129015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2  State B</a:t>
            </a:r>
          </a:p>
        </p:txBody>
      </p:sp>
      <p:sp>
        <p:nvSpPr>
          <p:cNvPr id="74" name="execution-frame-3"/>
          <p:cNvSpPr/>
          <p:nvPr/>
        </p:nvSpPr>
        <p:spPr>
          <a:xfrm>
            <a:off x="932688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execution-image-3" descr="frame-000235.png"/>
          <p:cNvPicPr>
            <a:picLocks noChangeAspect="1"/>
          </p:cNvPicPr>
          <p:nvPr/>
        </p:nvPicPr>
        <p:blipFill>
          <a:blip r:embed="rId13"/>
          <a:srcRect l="29203" r="29203"/>
          <a:stretch>
            <a:fillRect/>
          </a:stretch>
        </p:blipFill>
        <p:spPr>
          <a:xfrm>
            <a:off x="937260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6" name="execution-label-3"/>
          <p:cNvSpPr txBox="1"/>
          <p:nvPr/>
        </p:nvSpPr>
        <p:spPr>
          <a:xfrm>
            <a:off x="9363455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3  State C</a:t>
            </a:r>
          </a:p>
        </p:txBody>
      </p:sp>
      <p:sp>
        <p:nvSpPr>
          <p:cNvPr id="77" name="execution-frame-4"/>
          <p:cNvSpPr/>
          <p:nvPr/>
        </p:nvSpPr>
        <p:spPr>
          <a:xfrm>
            <a:off x="1056132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execution-image-4" descr="frame-000270.png"/>
          <p:cNvPicPr>
            <a:picLocks noChangeAspect="1"/>
          </p:cNvPicPr>
          <p:nvPr/>
        </p:nvPicPr>
        <p:blipFill>
          <a:blip r:embed="rId14"/>
          <a:srcRect l="29203" r="29203"/>
          <a:stretch>
            <a:fillRect/>
          </a:stretch>
        </p:blipFill>
        <p:spPr>
          <a:xfrm>
            <a:off x="1060704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9" name="execution-label-4"/>
          <p:cNvSpPr txBox="1"/>
          <p:nvPr/>
        </p:nvSpPr>
        <p:spPr>
          <a:xfrm>
            <a:off x="10597896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4  State D</a:t>
            </a:r>
          </a:p>
        </p:txBody>
      </p:sp>
      <p:cxnSp>
        <p:nvCxnSpPr>
          <p:cNvPr id="80" name="route-contract-to-execution-segment-1"/>
          <p:cNvCxnSpPr/>
          <p:nvPr/>
        </p:nvCxnSpPr>
        <p:spPr>
          <a:xfrm>
            <a:off x="9500616" y="1426464"/>
            <a:ext cx="0" cy="27432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oute-temporal-1-segment-1"/>
          <p:cNvCxnSpPr/>
          <p:nvPr/>
        </p:nvCxnSpPr>
        <p:spPr>
          <a:xfrm>
            <a:off x="7955279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oute-temporal-2-segment-1"/>
          <p:cNvCxnSpPr/>
          <p:nvPr/>
        </p:nvCxnSpPr>
        <p:spPr>
          <a:xfrm>
            <a:off x="9189720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oute-temporal-3-segment-1"/>
          <p:cNvCxnSpPr/>
          <p:nvPr/>
        </p:nvCxnSpPr>
        <p:spPr>
          <a:xfrm>
            <a:off x="10424160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xecution-metric"/>
          <p:cNvSpPr txBox="1"/>
          <p:nvPr/>
        </p:nvSpPr>
        <p:spPr>
          <a:xfrm>
            <a:off x="6858000" y="4041648"/>
            <a:ext cx="5093208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"/>
              </a:rPr>
              <a:t>recorded endpoint witness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Story-first scientific hero template</dc:title>
  <dc:subject>Neutral editable branch-merge-execution figure</dc:subject>
  <dc:creator>Scientific Figure Builder skill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
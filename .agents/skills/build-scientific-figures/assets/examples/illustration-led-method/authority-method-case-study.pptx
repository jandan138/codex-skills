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3931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-select"/>
          <p:cNvSpPr/>
          <p:nvPr/>
        </p:nvSpPr>
        <p:spPr>
          <a:xfrm>
            <a:off x="228600" y="50292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F2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-select"/>
          <p:cNvSpPr txBox="1"/>
          <p:nvPr/>
        </p:nvSpPr>
        <p:spPr>
          <a:xfrm>
            <a:off x="338328" y="594360"/>
            <a:ext cx="2523744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69D2"/>
                </a:solidFill>
                <a:latin typeface="DejaVu Sans"/>
              </a:rPr>
              <a:t>SELECT EVIDENCE</a:t>
            </a:r>
          </a:p>
        </p:txBody>
      </p:sp>
      <p:cxnSp>
        <p:nvCxnSpPr>
          <p:cNvPr id="4" name="section-divider-select"/>
          <p:cNvCxnSpPr/>
          <p:nvPr/>
        </p:nvCxnSpPr>
        <p:spPr>
          <a:xfrm>
            <a:off x="338328" y="923544"/>
            <a:ext cx="2523744" cy="0"/>
          </a:xfrm>
          <a:prstGeom prst="line">
            <a:avLst/>
          </a:prstGeom>
          <a:ln w="15240">
            <a:solidFill>
              <a:srgbClr val="1769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nel-meaning"/>
          <p:cNvSpPr/>
          <p:nvPr/>
        </p:nvSpPr>
        <p:spPr>
          <a:xfrm>
            <a:off x="3154680" y="502920"/>
            <a:ext cx="4754880" cy="3108960"/>
          </a:xfrm>
          <a:prstGeom prst="roundRect">
            <a:avLst>
              <a:gd name="adj" fmla="val 4000"/>
            </a:avLst>
          </a:prstGeom>
          <a:solidFill>
            <a:srgbClr val="EF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ection-meaning"/>
          <p:cNvSpPr txBox="1"/>
          <p:nvPr/>
        </p:nvSpPr>
        <p:spPr>
          <a:xfrm>
            <a:off x="3264408" y="594360"/>
            <a:ext cx="4535424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9F8C"/>
                </a:solidFill>
                <a:latin typeface="DejaVu Sans"/>
              </a:rPr>
              <a:t>RECONSTRUCT MEANING</a:t>
            </a:r>
          </a:p>
        </p:txBody>
      </p:sp>
      <p:cxnSp>
        <p:nvCxnSpPr>
          <p:cNvPr id="7" name="section-divider-meaning"/>
          <p:cNvCxnSpPr/>
          <p:nvPr/>
        </p:nvCxnSpPr>
        <p:spPr>
          <a:xfrm>
            <a:off x="3264408" y="923544"/>
            <a:ext cx="4535424" cy="0"/>
          </a:xfrm>
          <a:prstGeom prst="line">
            <a:avLst/>
          </a:prstGeom>
          <a:ln w="15240">
            <a:solidFill>
              <a:srgbClr val="0D9F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anel-authority"/>
          <p:cNvSpPr/>
          <p:nvPr/>
        </p:nvSpPr>
        <p:spPr>
          <a:xfrm>
            <a:off x="8092440" y="502920"/>
            <a:ext cx="3867912" cy="3108960"/>
          </a:xfrm>
          <a:prstGeom prst="roundRect">
            <a:avLst>
              <a:gd name="adj" fmla="val 4000"/>
            </a:avLst>
          </a:prstGeom>
          <a:solidFill>
            <a:srgbClr val="FF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ection-authority"/>
          <p:cNvSpPr txBox="1"/>
          <p:nvPr/>
        </p:nvSpPr>
        <p:spPr>
          <a:xfrm>
            <a:off x="8202167" y="594360"/>
            <a:ext cx="3648456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7800"/>
                </a:solidFill>
                <a:latin typeface="DejaVu Sans"/>
              </a:rPr>
              <a:t>APPLY AUTHORITY</a:t>
            </a:r>
          </a:p>
        </p:txBody>
      </p:sp>
      <p:cxnSp>
        <p:nvCxnSpPr>
          <p:cNvPr id="10" name="section-divider-authority"/>
          <p:cNvCxnSpPr/>
          <p:nvPr/>
        </p:nvCxnSpPr>
        <p:spPr>
          <a:xfrm>
            <a:off x="8202167" y="923544"/>
            <a:ext cx="3648457" cy="0"/>
          </a:xfrm>
          <a:prstGeom prst="line">
            <a:avLst/>
          </a:prstGeom>
          <a:ln w="15240">
            <a:solidFill>
              <a:srgbClr val="D978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oute-request-bind-segment-1"/>
          <p:cNvCxnSpPr/>
          <p:nvPr/>
        </p:nvCxnSpPr>
        <p:spPr>
          <a:xfrm>
            <a:off x="2761488" y="1636776"/>
            <a:ext cx="512064" cy="0"/>
          </a:xfrm>
          <a:prstGeom prst="line">
            <a:avLst/>
          </a:prstGeom>
          <a:ln w="20320">
            <a:solidFill>
              <a:srgbClr val="1769D2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oute-bind-grammar-segment-1"/>
          <p:cNvCxnSpPr/>
          <p:nvPr/>
        </p:nvCxnSpPr>
        <p:spPr>
          <a:xfrm>
            <a:off x="4142232" y="1636776"/>
            <a:ext cx="228600" cy="0"/>
          </a:xfrm>
          <a:prstGeom prst="line">
            <a:avLst/>
          </a:prstGeom>
          <a:ln w="20320">
            <a:solidFill>
              <a:srgbClr val="0D9F8C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oute-grammar-intent-segment-1"/>
          <p:cNvCxnSpPr/>
          <p:nvPr/>
        </p:nvCxnSpPr>
        <p:spPr>
          <a:xfrm>
            <a:off x="5239512" y="1636776"/>
            <a:ext cx="228600" cy="0"/>
          </a:xfrm>
          <a:prstGeom prst="line">
            <a:avLst/>
          </a:prstGeom>
          <a:ln w="20320">
            <a:solidFill>
              <a:srgbClr val="0D9F8C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oute-intent-verify-segment-1"/>
          <p:cNvCxnSpPr/>
          <p:nvPr/>
        </p:nvCxnSpPr>
        <p:spPr>
          <a:xfrm>
            <a:off x="6336792" y="1636776"/>
            <a:ext cx="228600" cy="0"/>
          </a:xfrm>
          <a:prstGeom prst="line">
            <a:avLst/>
          </a:prstGeom>
          <a:ln w="20320">
            <a:solidFill>
              <a:srgbClr val="0D9F8C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oute-verify-compiler-segment-1"/>
          <p:cNvCxnSpPr/>
          <p:nvPr/>
        </p:nvCxnSpPr>
        <p:spPr>
          <a:xfrm>
            <a:off x="7434071" y="1636776"/>
            <a:ext cx="393193" cy="0"/>
          </a:xfrm>
          <a:prstGeom prst="line">
            <a:avLst/>
          </a:prstGeom>
          <a:ln w="20320">
            <a:solidFill>
              <a:srgbClr val="0D9F8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oute-verify-compiler-segment-2"/>
          <p:cNvCxnSpPr/>
          <p:nvPr/>
        </p:nvCxnSpPr>
        <p:spPr>
          <a:xfrm>
            <a:off x="7827264" y="1636776"/>
            <a:ext cx="0" cy="242316"/>
          </a:xfrm>
          <a:prstGeom prst="line">
            <a:avLst/>
          </a:prstGeom>
          <a:ln w="20320">
            <a:solidFill>
              <a:srgbClr val="0D9F8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oute-verify-compiler-segment-3"/>
          <p:cNvCxnSpPr/>
          <p:nvPr/>
        </p:nvCxnSpPr>
        <p:spPr>
          <a:xfrm>
            <a:off x="7827264" y="1879092"/>
            <a:ext cx="384048" cy="0"/>
          </a:xfrm>
          <a:prstGeom prst="line">
            <a:avLst/>
          </a:prstGeom>
          <a:ln w="20320">
            <a:solidFill>
              <a:srgbClr val="0D9F8C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oute-policy-compiler-segment-1"/>
          <p:cNvCxnSpPr/>
          <p:nvPr/>
        </p:nvCxnSpPr>
        <p:spPr>
          <a:xfrm>
            <a:off x="8801100" y="1289304"/>
            <a:ext cx="0" cy="109728"/>
          </a:xfrm>
          <a:prstGeom prst="line">
            <a:avLst/>
          </a:prstGeom>
          <a:ln w="20320">
            <a:solidFill>
              <a:srgbClr val="D9780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oute-compiler-clarify-segment-1"/>
          <p:cNvCxnSpPr/>
          <p:nvPr/>
        </p:nvCxnSpPr>
        <p:spPr>
          <a:xfrm>
            <a:off x="9400032" y="1993392"/>
            <a:ext cx="73152" cy="0"/>
          </a:xfrm>
          <a:prstGeom prst="line">
            <a:avLst/>
          </a:prstGeom>
          <a:ln w="20320">
            <a:solidFill>
              <a:srgbClr val="D9780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oute-compiler-clarify-segment-2"/>
          <p:cNvCxnSpPr/>
          <p:nvPr/>
        </p:nvCxnSpPr>
        <p:spPr>
          <a:xfrm>
            <a:off x="9473184" y="1993392"/>
            <a:ext cx="0" cy="950976"/>
          </a:xfrm>
          <a:prstGeom prst="line">
            <a:avLst/>
          </a:prstGeom>
          <a:ln w="20320">
            <a:solidFill>
              <a:srgbClr val="D9780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oute-compiler-clarify-segment-3"/>
          <p:cNvCxnSpPr/>
          <p:nvPr/>
        </p:nvCxnSpPr>
        <p:spPr>
          <a:xfrm>
            <a:off x="9473184" y="2944368"/>
            <a:ext cx="1152144" cy="0"/>
          </a:xfrm>
          <a:prstGeom prst="line">
            <a:avLst/>
          </a:prstGeom>
          <a:ln w="20320">
            <a:solidFill>
              <a:srgbClr val="D97800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oute-compiler-reject-segment-1"/>
          <p:cNvCxnSpPr/>
          <p:nvPr/>
        </p:nvCxnSpPr>
        <p:spPr>
          <a:xfrm>
            <a:off x="9400032" y="2212848"/>
            <a:ext cx="237744" cy="0"/>
          </a:xfrm>
          <a:prstGeom prst="line">
            <a:avLst/>
          </a:prstGeom>
          <a:ln w="20320">
            <a:solidFill>
              <a:srgbClr val="D84A4A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route-compiler-reject-segment-2"/>
          <p:cNvCxnSpPr/>
          <p:nvPr/>
        </p:nvCxnSpPr>
        <p:spPr>
          <a:xfrm>
            <a:off x="9637776" y="2212848"/>
            <a:ext cx="0" cy="1188720"/>
          </a:xfrm>
          <a:prstGeom prst="line">
            <a:avLst/>
          </a:prstGeom>
          <a:ln w="20320">
            <a:solidFill>
              <a:srgbClr val="D84A4A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oute-compiler-reject-segment-3"/>
          <p:cNvCxnSpPr/>
          <p:nvPr/>
        </p:nvCxnSpPr>
        <p:spPr>
          <a:xfrm>
            <a:off x="9637776" y="3401568"/>
            <a:ext cx="987552" cy="0"/>
          </a:xfrm>
          <a:prstGeom prst="line">
            <a:avLst/>
          </a:prstGeom>
          <a:ln w="20320">
            <a:solidFill>
              <a:srgbClr val="D84A4A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scene-setup" descr="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19" y="1051560"/>
            <a:ext cx="1757272" cy="1874519"/>
          </a:xfrm>
          <a:prstGeom prst="rect">
            <a:avLst/>
          </a:prstGeom>
          <a:effectLst/>
        </p:spPr>
      </p:pic>
      <p:sp>
        <p:nvSpPr>
          <p:cNvPr id="26" name="label-request"/>
          <p:cNvSpPr txBox="1"/>
          <p:nvPr/>
        </p:nvSpPr>
        <p:spPr>
          <a:xfrm>
            <a:off x="969264" y="3108960"/>
            <a:ext cx="12344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64A"/>
                </a:solidFill>
                <a:latin typeface="DejaVu Sans"/>
              </a:rPr>
              <a:t>REQUEST</a:t>
            </a:r>
          </a:p>
        </p:txBody>
      </p:sp>
      <p:pic>
        <p:nvPicPr>
          <p:cNvPr id="27" name="semantic-bind" descr="bi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214" y="1187168"/>
            <a:ext cx="821355" cy="821355"/>
          </a:xfrm>
          <a:prstGeom prst="rect">
            <a:avLst/>
          </a:prstGeom>
          <a:effectLst/>
        </p:spPr>
      </p:pic>
      <p:sp>
        <p:nvSpPr>
          <p:cNvPr id="28" name="label-bind"/>
          <p:cNvSpPr txBox="1"/>
          <p:nvPr/>
        </p:nvSpPr>
        <p:spPr>
          <a:xfrm>
            <a:off x="3200400" y="2212848"/>
            <a:ext cx="1014983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64A"/>
                </a:solidFill>
                <a:latin typeface="DejaVu Sans"/>
              </a:rPr>
              <a:t>BIND</a:t>
            </a:r>
          </a:p>
        </p:txBody>
      </p:sp>
      <p:pic>
        <p:nvPicPr>
          <p:cNvPr id="29" name="semantic-grammar" descr="gramm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921" y="1076934"/>
            <a:ext cx="902501" cy="902501"/>
          </a:xfrm>
          <a:prstGeom prst="rect">
            <a:avLst/>
          </a:prstGeom>
          <a:effectLst/>
        </p:spPr>
      </p:pic>
      <p:sp>
        <p:nvSpPr>
          <p:cNvPr id="30" name="label-grammar"/>
          <p:cNvSpPr txBox="1"/>
          <p:nvPr/>
        </p:nvSpPr>
        <p:spPr>
          <a:xfrm>
            <a:off x="4297680" y="2212848"/>
            <a:ext cx="1014983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64A"/>
                </a:solidFill>
                <a:latin typeface="DejaVu Sans"/>
              </a:rPr>
              <a:t>GRAMMAR</a:t>
            </a:r>
          </a:p>
        </p:txBody>
      </p:sp>
      <p:pic>
        <p:nvPicPr>
          <p:cNvPr id="31" name="semantic-intent" descr="i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1774" y="1324771"/>
            <a:ext cx="821355" cy="821355"/>
          </a:xfrm>
          <a:prstGeom prst="rect">
            <a:avLst/>
          </a:prstGeom>
          <a:effectLst/>
        </p:spPr>
      </p:pic>
      <p:sp>
        <p:nvSpPr>
          <p:cNvPr id="32" name="label-intent"/>
          <p:cNvSpPr txBox="1"/>
          <p:nvPr/>
        </p:nvSpPr>
        <p:spPr>
          <a:xfrm>
            <a:off x="5394960" y="2212848"/>
            <a:ext cx="1014983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64A"/>
                </a:solidFill>
                <a:latin typeface="DejaVu Sans"/>
              </a:rPr>
              <a:t>INTENT</a:t>
            </a:r>
          </a:p>
        </p:txBody>
      </p:sp>
      <p:pic>
        <p:nvPicPr>
          <p:cNvPr id="33" name="semantic-verify" descr="verif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256" y="1182429"/>
            <a:ext cx="1028951" cy="1028951"/>
          </a:xfrm>
          <a:prstGeom prst="rect">
            <a:avLst/>
          </a:prstGeom>
          <a:effectLst/>
        </p:spPr>
      </p:pic>
      <p:sp>
        <p:nvSpPr>
          <p:cNvPr id="34" name="label-verify"/>
          <p:cNvSpPr txBox="1"/>
          <p:nvPr/>
        </p:nvSpPr>
        <p:spPr>
          <a:xfrm>
            <a:off x="6492240" y="2212848"/>
            <a:ext cx="1014983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64A"/>
                </a:solidFill>
                <a:latin typeface="DejaVu Sans"/>
              </a:rPr>
              <a:t>VERIFY</a:t>
            </a:r>
          </a:p>
        </p:txBody>
      </p:sp>
      <p:cxnSp>
        <p:nvCxnSpPr>
          <p:cNvPr id="35" name="route-registry-verify-segment-1"/>
          <p:cNvCxnSpPr/>
          <p:nvPr/>
        </p:nvCxnSpPr>
        <p:spPr>
          <a:xfrm>
            <a:off x="6995160" y="3017520"/>
            <a:ext cx="576071" cy="0"/>
          </a:xfrm>
          <a:prstGeom prst="line">
            <a:avLst/>
          </a:prstGeom>
          <a:ln w="20320">
            <a:solidFill>
              <a:srgbClr val="18376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oute-registry-verify-segment-2"/>
          <p:cNvCxnSpPr/>
          <p:nvPr/>
        </p:nvCxnSpPr>
        <p:spPr>
          <a:xfrm flipV="1">
            <a:off x="7571231" y="1783080"/>
            <a:ext cx="0" cy="1234440"/>
          </a:xfrm>
          <a:prstGeom prst="line">
            <a:avLst/>
          </a:prstGeom>
          <a:ln w="20320">
            <a:solidFill>
              <a:srgbClr val="18376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oute-registry-verify-segment-3"/>
          <p:cNvCxnSpPr/>
          <p:nvPr/>
        </p:nvCxnSpPr>
        <p:spPr>
          <a:xfrm flipH="1">
            <a:off x="7095744" y="1783080"/>
            <a:ext cx="475487" cy="0"/>
          </a:xfrm>
          <a:prstGeom prst="line">
            <a:avLst/>
          </a:prstGeom>
          <a:ln w="20320">
            <a:solidFill>
              <a:srgbClr val="183760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ll-registry"/>
          <p:cNvSpPr/>
          <p:nvPr/>
        </p:nvSpPr>
        <p:spPr>
          <a:xfrm>
            <a:off x="6400800" y="3017520"/>
            <a:ext cx="1188720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795">
            <a:solidFill>
              <a:srgbClr val="5264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label-registry"/>
          <p:cNvSpPr txBox="1"/>
          <p:nvPr/>
        </p:nvSpPr>
        <p:spPr>
          <a:xfrm>
            <a:off x="6437376" y="3035808"/>
            <a:ext cx="1115568" cy="3474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64A"/>
                </a:solidFill>
                <a:latin typeface="DejaVu Sans"/>
              </a:rPr>
              <a:t>REGISTRY</a:t>
            </a:r>
          </a:p>
        </p:txBody>
      </p:sp>
      <p:sp>
        <p:nvSpPr>
          <p:cNvPr id="40" name="compiler-card"/>
          <p:cNvSpPr/>
          <p:nvPr/>
        </p:nvSpPr>
        <p:spPr>
          <a:xfrm>
            <a:off x="8211312" y="1399032"/>
            <a:ext cx="11887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ill-policy"/>
          <p:cNvSpPr/>
          <p:nvPr/>
        </p:nvSpPr>
        <p:spPr>
          <a:xfrm>
            <a:off x="8229600" y="950976"/>
            <a:ext cx="114300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795">
            <a:solidFill>
              <a:srgbClr val="D9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scene-pour" descr="pou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0" y="1115568"/>
            <a:ext cx="2331720" cy="1554480"/>
          </a:xfrm>
          <a:prstGeom prst="rect">
            <a:avLst/>
          </a:prstGeom>
          <a:effectLst/>
        </p:spPr>
      </p:pic>
      <p:cxnSp>
        <p:nvCxnSpPr>
          <p:cNvPr id="45" name="route-compiler-execute-segment-1"/>
          <p:cNvCxnSpPr/>
          <p:nvPr/>
        </p:nvCxnSpPr>
        <p:spPr>
          <a:xfrm>
            <a:off x="9400032" y="1664208"/>
            <a:ext cx="73152" cy="0"/>
          </a:xfrm>
          <a:prstGeom prst="line">
            <a:avLst/>
          </a:prstGeom>
          <a:ln w="20320">
            <a:solidFill>
              <a:srgbClr val="0D9F8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oute-compiler-execute-segment-2"/>
          <p:cNvCxnSpPr/>
          <p:nvPr/>
        </p:nvCxnSpPr>
        <p:spPr>
          <a:xfrm flipV="1">
            <a:off x="9473184" y="1152144"/>
            <a:ext cx="0" cy="512064"/>
          </a:xfrm>
          <a:prstGeom prst="line">
            <a:avLst/>
          </a:prstGeom>
          <a:ln w="20320">
            <a:solidFill>
              <a:srgbClr val="0D9F8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oute-compiler-execute-segment-3"/>
          <p:cNvCxnSpPr/>
          <p:nvPr/>
        </p:nvCxnSpPr>
        <p:spPr>
          <a:xfrm>
            <a:off x="9473184" y="1152144"/>
            <a:ext cx="82296" cy="0"/>
          </a:xfrm>
          <a:prstGeom prst="line">
            <a:avLst/>
          </a:prstGeom>
          <a:ln w="20320">
            <a:solidFill>
              <a:srgbClr val="0D9F8C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route-execute-scene-segment-1"/>
          <p:cNvCxnSpPr/>
          <p:nvPr/>
        </p:nvCxnSpPr>
        <p:spPr>
          <a:xfrm>
            <a:off x="10689336" y="1152144"/>
            <a:ext cx="155448" cy="0"/>
          </a:xfrm>
          <a:prstGeom prst="line">
            <a:avLst/>
          </a:prstGeom>
          <a:ln w="20320">
            <a:solidFill>
              <a:srgbClr val="0D9F8C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route-execute-scene-segment-2"/>
          <p:cNvCxnSpPr/>
          <p:nvPr/>
        </p:nvCxnSpPr>
        <p:spPr>
          <a:xfrm>
            <a:off x="10844784" y="1152144"/>
            <a:ext cx="0" cy="256032"/>
          </a:xfrm>
          <a:prstGeom prst="line">
            <a:avLst/>
          </a:prstGeom>
          <a:ln w="20320">
            <a:solidFill>
              <a:srgbClr val="0D9F8C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pill-execute"/>
          <p:cNvSpPr/>
          <p:nvPr/>
        </p:nvSpPr>
        <p:spPr>
          <a:xfrm>
            <a:off x="9555480" y="969264"/>
            <a:ext cx="1133856" cy="365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795">
            <a:solidFill>
              <a:srgbClr val="0D9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ill-clarify"/>
          <p:cNvSpPr/>
          <p:nvPr/>
        </p:nvSpPr>
        <p:spPr>
          <a:xfrm>
            <a:off x="10625328" y="2761488"/>
            <a:ext cx="1188720" cy="365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795">
            <a:solidFill>
              <a:srgbClr val="D97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ill-reject"/>
          <p:cNvSpPr/>
          <p:nvPr/>
        </p:nvSpPr>
        <p:spPr>
          <a:xfrm>
            <a:off x="10625328" y="3218688"/>
            <a:ext cx="1188720" cy="365760"/>
          </a:xfrm>
          <a:prstGeom prst="roundRect">
            <a:avLst>
              <a:gd name="adj" fmla="val 18000"/>
            </a:avLst>
          </a:prstGeom>
          <a:solidFill>
            <a:srgbClr val="FFF1F1"/>
          </a:solidFill>
          <a:ln w="10795">
            <a:solidFill>
              <a:srgbClr val="D8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authority-icon-policy" descr="polic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464" y="1001268"/>
            <a:ext cx="228600" cy="228600"/>
          </a:xfrm>
          <a:prstGeom prst="rect">
            <a:avLst/>
          </a:prstGeom>
        </p:spPr>
      </p:pic>
      <p:pic>
        <p:nvPicPr>
          <p:cNvPr id="56" name="authority-icon-compiler" descr="compil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6216" y="1481328"/>
            <a:ext cx="438912" cy="438912"/>
          </a:xfrm>
          <a:prstGeom prst="rect">
            <a:avLst/>
          </a:prstGeom>
        </p:spPr>
      </p:pic>
      <p:pic>
        <p:nvPicPr>
          <p:cNvPr id="57" name="authority-icon-clarify" descr="clarif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1904" y="2816352"/>
            <a:ext cx="256032" cy="256032"/>
          </a:xfrm>
          <a:prstGeom prst="rect">
            <a:avLst/>
          </a:prstGeom>
        </p:spPr>
      </p:pic>
      <p:pic>
        <p:nvPicPr>
          <p:cNvPr id="58" name="authority-icon-reject" descr="rejec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1904" y="3273552"/>
            <a:ext cx="256032" cy="256032"/>
          </a:xfrm>
          <a:prstGeom prst="rect">
            <a:avLst/>
          </a:prstGeom>
        </p:spPr>
      </p:pic>
      <p:sp>
        <p:nvSpPr>
          <p:cNvPr id="59" name="label-policy"/>
          <p:cNvSpPr txBox="1"/>
          <p:nvPr/>
        </p:nvSpPr>
        <p:spPr>
          <a:xfrm>
            <a:off x="8577072" y="982980"/>
            <a:ext cx="749808" cy="2743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64A"/>
                </a:solidFill>
                <a:latin typeface="DejaVu Sans"/>
              </a:rPr>
              <a:t>POLICY</a:t>
            </a:r>
          </a:p>
        </p:txBody>
      </p:sp>
      <p:sp>
        <p:nvSpPr>
          <p:cNvPr id="60" name="label-compiler"/>
          <p:cNvSpPr txBox="1"/>
          <p:nvPr/>
        </p:nvSpPr>
        <p:spPr>
          <a:xfrm>
            <a:off x="8275320" y="1993392"/>
            <a:ext cx="1060704" cy="2834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364A"/>
                </a:solidFill>
                <a:latin typeface="DejaVu Sans"/>
              </a:rPr>
              <a:t>COMPILER</a:t>
            </a:r>
          </a:p>
        </p:txBody>
      </p:sp>
      <p:sp>
        <p:nvSpPr>
          <p:cNvPr id="61" name="label-execute"/>
          <p:cNvSpPr txBox="1"/>
          <p:nvPr/>
        </p:nvSpPr>
        <p:spPr>
          <a:xfrm>
            <a:off x="9592055" y="987552"/>
            <a:ext cx="1060704" cy="3291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6364A"/>
                </a:solidFill>
                <a:latin typeface="DejaVu Sans"/>
              </a:rPr>
              <a:t>EXECUTE</a:t>
            </a:r>
          </a:p>
        </p:txBody>
      </p:sp>
      <p:sp>
        <p:nvSpPr>
          <p:cNvPr id="62" name="label-clarify"/>
          <p:cNvSpPr txBox="1"/>
          <p:nvPr/>
        </p:nvSpPr>
        <p:spPr>
          <a:xfrm>
            <a:off x="10927080" y="2779776"/>
            <a:ext cx="813816" cy="3291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6364A"/>
                </a:solidFill>
                <a:latin typeface="DejaVu Sans"/>
              </a:rPr>
              <a:t>CLARIFY</a:t>
            </a:r>
          </a:p>
        </p:txBody>
      </p:sp>
      <p:sp>
        <p:nvSpPr>
          <p:cNvPr id="63" name="label-reject"/>
          <p:cNvSpPr txBox="1"/>
          <p:nvPr/>
        </p:nvSpPr>
        <p:spPr>
          <a:xfrm>
            <a:off x="10927080" y="3236976"/>
            <a:ext cx="813816" cy="3291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6364A"/>
                </a:solidFill>
                <a:latin typeface="DejaVu Sans"/>
              </a:rPr>
              <a:t>REJECT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